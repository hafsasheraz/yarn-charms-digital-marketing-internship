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1" r:id="rId13"/>
    <p:sldId id="272" r:id="rId14"/>
    <p:sldId id="273" r:id="rId15"/>
    <p:sldId id="274" r:id="rId16"/>
    <p:sldId id="265" r:id="rId17"/>
  </p:sldIdLst>
  <p:sldSz cx="9144000" cy="5143500"/>
  <p:notesSz cx="5143500" cy="9144000"/>
  <p:embeddedFontLst>
    <p:embeddedFont>
      <p:font typeface="Poppins" panose="00000500000000000000" pitchFamily="34" charset="0"/>
      <p:regular r:id="rId21"/>
    </p:embeddedFont>
    <p:embeddedFont>
      <p:font typeface="Poppins" panose="00000500000000000000" pitchFamily="34" charset="-122"/>
      <p:regular r:id="rId22"/>
    </p:embeddedFont>
    <p:embeddedFont>
      <p:font typeface="Poppins" panose="00000500000000000000" pitchFamily="34" charset="-120"/>
      <p:regular r:id="rId23"/>
    </p:embeddedFont>
    <p:embeddedFont>
      <p:font typeface="Baskervville" pitchFamily="34" charset="0"/>
      <p:regular r:id="rId24"/>
    </p:embeddedFont>
    <p:embeddedFont>
      <p:font typeface="Baskervville" pitchFamily="34" charset="-122"/>
      <p:regular r:id="rId25"/>
    </p:embeddedFont>
    <p:embeddedFont>
      <p:font typeface="Baskervville" pitchFamily="34" charset="-120"/>
      <p:regular r:id="rId26"/>
    </p:embeddedFont>
    <p:embeddedFont>
      <p:font typeface="Poppins Bold" panose="00000800000000000000" pitchFamily="34" charset="0"/>
      <p:bold r:id="rId27"/>
    </p:embeddedFont>
    <p:embeddedFont>
      <p:font typeface="Poppins Bold" panose="00000800000000000000" pitchFamily="34" charset="-122"/>
      <p:bold r:id="rId28"/>
    </p:embeddedFont>
    <p:embeddedFont>
      <p:font typeface="Poppins Bold" panose="00000800000000000000" pitchFamily="34" charset="-120"/>
      <p:bold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  <p:embeddedFont>
      <p:font typeface="Baskerville Old Face" panose="02020602080505020303" charset="0"/>
      <p:regular r:id="rId34"/>
    </p:embeddedFont>
    <p:embeddedFont>
      <p:font typeface="Cambria" panose="02040503050406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787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18.fntdata"/><Relationship Id="rId37" Type="http://schemas.openxmlformats.org/officeDocument/2006/relationships/font" Target="fonts/font17.fntdata"/><Relationship Id="rId36" Type="http://schemas.openxmlformats.org/officeDocument/2006/relationships/font" Target="fonts/font16.fntdata"/><Relationship Id="rId35" Type="http://schemas.openxmlformats.org/officeDocument/2006/relationships/font" Target="fonts/font15.fntdata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7.pn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5705" y="1664047"/>
            <a:ext cx="1067544" cy="217810"/>
          </a:xfrm>
          <a:prstGeom prst="roundRect">
            <a:avLst>
              <a:gd name="adj" fmla="val 63870"/>
            </a:avLst>
          </a:prstGeom>
          <a:solidFill>
            <a:srgbClr val="ECDFE3"/>
          </a:solidFill>
        </p:spPr>
      </p:sp>
      <p:sp>
        <p:nvSpPr>
          <p:cNvPr id="4" name="Text 1"/>
          <p:cNvSpPr/>
          <p:nvPr/>
        </p:nvSpPr>
        <p:spPr>
          <a:xfrm>
            <a:off x="475208" y="1698799"/>
            <a:ext cx="1385739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INTERNSHIP PROJECT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1531144" y="1664047"/>
            <a:ext cx="611981" cy="217810"/>
          </a:xfrm>
          <a:prstGeom prst="roundRect">
            <a:avLst>
              <a:gd name="adj" fmla="val 63870"/>
            </a:avLst>
          </a:prstGeom>
          <a:noFill/>
          <a:effectLst>
            <a:outerShdw blurRad="101600" dist="50800" dir="16200000" algn="bl" rotWithShape="0">
              <a:srgbClr val="C7A2AC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00646" y="1698799"/>
            <a:ext cx="930176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JUNE 2026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5705" y="1928217"/>
            <a:ext cx="4623420" cy="520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Yarn Charms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405705" y="2495327"/>
            <a:ext cx="4903589" cy="624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Growing a Handmade Crochet Brand Through Digital Marketing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05705" y="3293938"/>
            <a:ext cx="5360789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Presented by </a:t>
            </a:r>
            <a:r>
              <a:rPr lang="en-US" sz="900" b="1" dirty="0">
                <a:solidFill>
                  <a:srgbClr val="6E6666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Hafsa Sheraz</a:t>
            </a: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 · DevelopersHub Corporation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981894"/>
            <a:ext cx="3790131" cy="416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Meet Yarn Charms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05705" y="1630263"/>
            <a:ext cx="8738295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Yarn Charms is a handmade crochet business creating thoughtful, aesthetic products — from floral arrangements to custom decor pieces.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5705" y="1946077"/>
            <a:ext cx="868710" cy="868710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405705" y="2959671"/>
            <a:ext cx="1974428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Crochet Flowers</a:t>
            </a: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405705" y="3289474"/>
            <a:ext cx="1974428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Delicate, long-lasting floral arrangements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25018" y="1946077"/>
            <a:ext cx="868710" cy="868710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2525018" y="2959671"/>
            <a:ext cx="197450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Keychains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8"/>
            </p:custDataLst>
          </p:nvPr>
        </p:nvSpPr>
        <p:spPr>
          <a:xfrm>
            <a:off x="2525018" y="3289474"/>
            <a:ext cx="1974503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Charming everyday accessories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44405" y="1946077"/>
            <a:ext cx="868710" cy="868710"/>
          </a:xfrm>
          <a:prstGeom prst="rect">
            <a:avLst/>
          </a:prstGeom>
        </p:spPr>
      </p:pic>
      <p:sp>
        <p:nvSpPr>
          <p:cNvPr id="11" name="Text 6"/>
          <p:cNvSpPr/>
          <p:nvPr>
            <p:custDataLst>
              <p:tags r:id="rId11"/>
            </p:custDataLst>
          </p:nvPr>
        </p:nvSpPr>
        <p:spPr>
          <a:xfrm>
            <a:off x="4644405" y="2959671"/>
            <a:ext cx="197450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Quran Covers</a:t>
            </a:r>
            <a:endParaRPr lang="en-US" sz="1600" dirty="0"/>
          </a:p>
        </p:txBody>
      </p:sp>
      <p:sp>
        <p:nvSpPr>
          <p:cNvPr id="12" name="Text 7"/>
          <p:cNvSpPr/>
          <p:nvPr>
            <p:custDataLst>
              <p:tags r:id="rId12"/>
            </p:custDataLst>
          </p:nvPr>
        </p:nvSpPr>
        <p:spPr>
          <a:xfrm>
            <a:off x="4644405" y="3289474"/>
            <a:ext cx="1974503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Reverent, personalized book covers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763792" y="1946077"/>
            <a:ext cx="868710" cy="868710"/>
          </a:xfrm>
          <a:prstGeom prst="rect">
            <a:avLst/>
          </a:prstGeom>
        </p:spPr>
      </p:pic>
      <p:sp>
        <p:nvSpPr>
          <p:cNvPr id="14" name="Text 8"/>
          <p:cNvSpPr/>
          <p:nvPr>
            <p:custDataLst>
              <p:tags r:id="rId15"/>
            </p:custDataLst>
          </p:nvPr>
        </p:nvSpPr>
        <p:spPr>
          <a:xfrm>
            <a:off x="6763792" y="2959671"/>
            <a:ext cx="197450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Coasters &amp; Customs</a:t>
            </a:r>
            <a:endParaRPr lang="en-US" sz="1600" dirty="0"/>
          </a:p>
        </p:txBody>
      </p:sp>
      <p:sp>
        <p:nvSpPr>
          <p:cNvPr id="15" name="Text 9"/>
          <p:cNvSpPr/>
          <p:nvPr>
            <p:custDataLst>
              <p:tags r:id="rId16"/>
            </p:custDataLst>
          </p:nvPr>
        </p:nvSpPr>
        <p:spPr>
          <a:xfrm>
            <a:off x="6763792" y="3289474"/>
            <a:ext cx="1974503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Functional art and bespoke orders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05705" y="3929792"/>
            <a:ext cx="8332589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The business shares its creations primarily on Instagram and Facebook, aiming to build awareness, spark engagement, and attract customers through authentic digital storytelling.</a:t>
            </a:r>
            <a:endParaRPr lang="en-US" sz="900" dirty="0"/>
          </a:p>
        </p:txBody>
      </p:sp>
      <p:sp>
        <p:nvSpPr>
          <p:cNvPr id="17" name="Rounded Rectangle 16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1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705" y="1239441"/>
            <a:ext cx="599480" cy="217810"/>
          </a:xfrm>
          <a:prstGeom prst="roundRect">
            <a:avLst>
              <a:gd name="adj" fmla="val 63870"/>
            </a:avLst>
          </a:prstGeom>
          <a:solidFill>
            <a:srgbClr val="ECDFE3"/>
          </a:solidFill>
        </p:spPr>
      </p:sp>
      <p:sp>
        <p:nvSpPr>
          <p:cNvPr id="3" name="Text 1"/>
          <p:cNvSpPr/>
          <p:nvPr/>
        </p:nvSpPr>
        <p:spPr>
          <a:xfrm>
            <a:off x="475208" y="1274192"/>
            <a:ext cx="917674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CHAPTER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05705" y="1503611"/>
            <a:ext cx="3790131" cy="416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Project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05705" y="2094012"/>
            <a:ext cx="8738295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Three SMART objectives guided every content decision during the internship — each one building on the last.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05" y="2409825"/>
            <a:ext cx="2700263" cy="1494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8884" y="2489299"/>
            <a:ext cx="173831" cy="2173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5856" y="2887712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Brand Awareness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5856" y="3217515"/>
            <a:ext cx="2439963" cy="556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Increase Instagram followers by 10–15% through consistent, high-quality content posting.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1831" y="2409825"/>
            <a:ext cx="2700263" cy="1494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5010" y="2489299"/>
            <a:ext cx="173831" cy="2173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51981" y="2887712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Audience Engagement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51981" y="3217515"/>
            <a:ext cx="2439963" cy="556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Encourage likes, comments, shares, and saves through educational and interactive content.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7957" y="2409825"/>
            <a:ext cx="2700263" cy="1494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01136" y="2489299"/>
            <a:ext cx="173831" cy="2173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68107" y="2887712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Business Growth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168107" y="3217515"/>
            <a:ext cx="2439963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Drive customer interest through product promotion, tutorials, and profile visits.</a:t>
            </a:r>
            <a:endParaRPr lang="en-US" sz="900" dirty="0"/>
          </a:p>
        </p:txBody>
      </p:sp>
      <p:sp>
        <p:nvSpPr>
          <p:cNvPr id="19" name="Rounded Rectangle 18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2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" name="Shape 0"/>
          <p:cNvSpPr/>
          <p:nvPr/>
        </p:nvSpPr>
        <p:spPr>
          <a:xfrm>
            <a:off x="363959" y="100985"/>
            <a:ext cx="3331666" cy="4941987"/>
          </a:xfrm>
          <a:prstGeom prst="roundRect">
            <a:avLst>
              <a:gd name="adj" fmla="val 4176"/>
            </a:avLst>
          </a:prstGeom>
          <a:solidFill>
            <a:srgbClr val="ECDFE3"/>
          </a:solidFill>
        </p:spPr>
        <p:txBody>
          <a:bodyPr/>
          <a:p>
            <a:endParaRPr lang="en-GB" altLang="en-US"/>
          </a:p>
        </p:txBody>
      </p:sp>
      <p:sp>
        <p:nvSpPr>
          <p:cNvPr id="3" name="Text 1"/>
          <p:cNvSpPr/>
          <p:nvPr/>
        </p:nvSpPr>
        <p:spPr>
          <a:xfrm>
            <a:off x="421640" y="1830705"/>
            <a:ext cx="3215640" cy="1482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87878"/>
                </a:solidFill>
                <a:latin typeface="Baskerville Old Face" panose="02020602080505020303" charset="0"/>
                <a:ea typeface="Poppins Bold" panose="00000800000000000000" pitchFamily="34" charset="-122"/>
                <a:cs typeface="Baskerville Old Face" panose="02020602080505020303" charset="0"/>
              </a:rPr>
              <a:t>Understanding the Business</a:t>
            </a:r>
            <a:endParaRPr lang="en-US" sz="1400" b="1" dirty="0">
              <a:solidFill>
                <a:srgbClr val="787878"/>
              </a:solidFill>
              <a:latin typeface="Baskerville Old Face" panose="02020602080505020303" charset="0"/>
              <a:ea typeface="Poppins Bold" panose="00000800000000000000" pitchFamily="34" charset="-122"/>
              <a:cs typeface="Baskerville Old Face" panose="02020602080505020303" charset="0"/>
            </a:endParaRP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mbria" panose="02040503050406030204" charset="0"/>
                <a:ea typeface="Poppins" panose="00000500000000000000" pitchFamily="34" charset="-122"/>
                <a:cs typeface="Cambria" panose="02040503050406030204" charset="0"/>
              </a:rPr>
              <a:t>A SWOT analysis clarified where Yarn Charms stands — and where it can grow.</a:t>
            </a:r>
            <a:endParaRPr lang="en-US" sz="800" dirty="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mbria" panose="02040503050406030204" charset="0"/>
                <a:ea typeface="Poppins" panose="00000500000000000000" pitchFamily="34" charset="-122"/>
                <a:cs typeface="Cambria" panose="02040503050406030204" charset="0"/>
              </a:rPr>
              <a:t>Handmade products are inherently visual and unique, but production capacity and audience size present real challenges. The opportunity lies in short-form video and seasonal gifting trends.</a:t>
            </a:r>
            <a:endParaRPr lang="en-US" sz="800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0029" y="101193"/>
            <a:ext cx="4876800" cy="4876800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3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705" y="1613074"/>
            <a:ext cx="623143" cy="217810"/>
          </a:xfrm>
          <a:prstGeom prst="roundRect">
            <a:avLst>
              <a:gd name="adj" fmla="val 63870"/>
            </a:avLst>
          </a:prstGeom>
          <a:solidFill>
            <a:srgbClr val="ECDFE3"/>
          </a:solidFill>
        </p:spPr>
      </p:sp>
      <p:sp>
        <p:nvSpPr>
          <p:cNvPr id="3" name="Text 1"/>
          <p:cNvSpPr/>
          <p:nvPr/>
        </p:nvSpPr>
        <p:spPr>
          <a:xfrm>
            <a:off x="475208" y="1647825"/>
            <a:ext cx="941338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CHAPTER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05705" y="1877244"/>
            <a:ext cx="3790131" cy="416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Content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05705" y="2467645"/>
            <a:ext cx="8738295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The </a:t>
            </a:r>
            <a:r>
              <a:rPr lang="en-US" sz="900" b="1" dirty="0">
                <a:solidFill>
                  <a:srgbClr val="6E6666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70 / 20 / 10 Rule</a:t>
            </a: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 shaped every post — because people engage more when they learn something before being sold something.</a:t>
            </a:r>
            <a:endParaRPr lang="en-US" sz="9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405705" y="2783458"/>
            <a:ext cx="2700263" cy="746968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21568" y="2899321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70% Educational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521568" y="3229124"/>
            <a:ext cx="2468538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Tutorials, FAQs, and product usage tips</a:t>
            </a:r>
            <a:endParaRPr lang="en-US" sz="9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3221831" y="2783458"/>
            <a:ext cx="2700263" cy="746968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3337694" y="2899321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20% Engagement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337694" y="3229124"/>
            <a:ext cx="2468538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Polls, questions, and audience interaction</a:t>
            </a:r>
            <a:endParaRPr lang="en-US" sz="9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6037957" y="2783458"/>
            <a:ext cx="2700263" cy="746968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6153820" y="2899321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10% Promotional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6153820" y="3229124"/>
            <a:ext cx="2468538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Product showcases and sales content</a:t>
            </a:r>
            <a:endParaRPr lang="en-US" sz="900" dirty="0"/>
          </a:p>
        </p:txBody>
      </p:sp>
      <p:sp>
        <p:nvSpPr>
          <p:cNvPr id="19" name="Rounded Rectangle 18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4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7"/>
          <p:cNvSpPr/>
          <p:nvPr>
            <p:custDataLst>
              <p:tags r:id="rId1"/>
            </p:custDataLst>
          </p:nvPr>
        </p:nvSpPr>
        <p:spPr>
          <a:xfrm>
            <a:off x="5901690" y="3827780"/>
            <a:ext cx="2407285" cy="548005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42" name="Shape 7"/>
          <p:cNvSpPr/>
          <p:nvPr>
            <p:custDataLst>
              <p:tags r:id="rId2"/>
            </p:custDataLst>
          </p:nvPr>
        </p:nvSpPr>
        <p:spPr>
          <a:xfrm>
            <a:off x="337185" y="3808095"/>
            <a:ext cx="2407285" cy="548005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41" name="Shape 7"/>
          <p:cNvSpPr/>
          <p:nvPr>
            <p:custDataLst>
              <p:tags r:id="rId3"/>
            </p:custDataLst>
          </p:nvPr>
        </p:nvSpPr>
        <p:spPr>
          <a:xfrm>
            <a:off x="3154045" y="3822700"/>
            <a:ext cx="2407285" cy="548005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39" name="Shape 7"/>
          <p:cNvSpPr/>
          <p:nvPr>
            <p:custDataLst>
              <p:tags r:id="rId4"/>
            </p:custDataLst>
          </p:nvPr>
        </p:nvSpPr>
        <p:spPr>
          <a:xfrm>
            <a:off x="5901690" y="2868930"/>
            <a:ext cx="2407285" cy="548005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38" name="Shape 7"/>
          <p:cNvSpPr/>
          <p:nvPr>
            <p:custDataLst>
              <p:tags r:id="rId5"/>
            </p:custDataLst>
          </p:nvPr>
        </p:nvSpPr>
        <p:spPr>
          <a:xfrm>
            <a:off x="3154045" y="2857500"/>
            <a:ext cx="2407285" cy="548005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sp>
        <p:nvSpPr>
          <p:cNvPr id="37" name="Shape 7"/>
          <p:cNvSpPr/>
          <p:nvPr>
            <p:custDataLst>
              <p:tags r:id="rId6"/>
            </p:custDataLst>
          </p:nvPr>
        </p:nvSpPr>
        <p:spPr>
          <a:xfrm>
            <a:off x="337185" y="2817495"/>
            <a:ext cx="2407285" cy="548005"/>
          </a:xfrm>
          <a:prstGeom prst="roundRect">
            <a:avLst>
              <a:gd name="adj" fmla="val 23280"/>
            </a:avLst>
          </a:prstGeom>
          <a:solidFill>
            <a:srgbClr val="ECDFE3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9254" y="551671"/>
            <a:ext cx="3363144" cy="190574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05705" y="1180133"/>
            <a:ext cx="2644453" cy="2733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Content Created</a:t>
            </a:r>
            <a:endParaRPr lang="en-US" dirty="0">
              <a:solidFill>
                <a:srgbClr val="787878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11480" y="2890520"/>
            <a:ext cx="2193290" cy="431800"/>
            <a:chOff x="639" y="3550"/>
            <a:chExt cx="3454" cy="680"/>
          </a:xfrm>
        </p:grpSpPr>
        <p:grpSp>
          <p:nvGrpSpPr>
            <p:cNvPr id="25" name="Group 24"/>
            <p:cNvGrpSpPr/>
            <p:nvPr/>
          </p:nvGrpSpPr>
          <p:grpSpPr>
            <a:xfrm>
              <a:off x="639" y="3550"/>
              <a:ext cx="2291" cy="269"/>
              <a:chOff x="639" y="3820"/>
              <a:chExt cx="2291" cy="269"/>
            </a:xfrm>
          </p:grpSpPr>
          <p:sp>
            <p:nvSpPr>
              <p:cNvPr id="5" name="Shape 2"/>
              <p:cNvSpPr/>
              <p:nvPr/>
            </p:nvSpPr>
            <p:spPr>
              <a:xfrm>
                <a:off x="639" y="3929"/>
                <a:ext cx="60" cy="60"/>
              </a:xfrm>
              <a:prstGeom prst="roundRect">
                <a:avLst>
                  <a:gd name="adj" fmla="val 751460"/>
                </a:avLst>
              </a:prstGeom>
              <a:solidFill>
                <a:srgbClr val="C7A2AC"/>
              </a:solidFill>
            </p:spPr>
          </p:sp>
          <p:sp>
            <p:nvSpPr>
              <p:cNvPr id="6" name="Text 3"/>
              <p:cNvSpPr/>
              <p:nvPr/>
            </p:nvSpPr>
            <p:spPr>
              <a:xfrm>
                <a:off x="777" y="3820"/>
                <a:ext cx="2153" cy="2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Social Media Posts</a:t>
                </a:r>
                <a:endPara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endParaRPr>
              </a:p>
            </p:txBody>
          </p:sp>
        </p:grpSp>
        <p:sp>
          <p:nvSpPr>
            <p:cNvPr id="7" name="Text 4"/>
            <p:cNvSpPr/>
            <p:nvPr/>
          </p:nvSpPr>
          <p:spPr>
            <a:xfrm>
              <a:off x="777" y="3976"/>
              <a:ext cx="3316" cy="25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5 posts across Instagram &amp; Facebook</a:t>
              </a:r>
              <a:endPara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99050" y="3886200"/>
            <a:ext cx="1454676" cy="328295"/>
            <a:chOff x="639" y="4350"/>
            <a:chExt cx="2291" cy="517"/>
          </a:xfrm>
        </p:grpSpPr>
        <p:grpSp>
          <p:nvGrpSpPr>
            <p:cNvPr id="26" name="Group 25"/>
            <p:cNvGrpSpPr/>
            <p:nvPr/>
          </p:nvGrpSpPr>
          <p:grpSpPr>
            <a:xfrm>
              <a:off x="639" y="4350"/>
              <a:ext cx="2291" cy="269"/>
              <a:chOff x="639" y="4482"/>
              <a:chExt cx="2291" cy="269"/>
            </a:xfrm>
          </p:grpSpPr>
          <p:sp>
            <p:nvSpPr>
              <p:cNvPr id="8" name="Shape 5"/>
              <p:cNvSpPr/>
              <p:nvPr/>
            </p:nvSpPr>
            <p:spPr>
              <a:xfrm>
                <a:off x="639" y="4561"/>
                <a:ext cx="60" cy="60"/>
              </a:xfrm>
              <a:prstGeom prst="roundRect">
                <a:avLst>
                  <a:gd name="adj" fmla="val 751460"/>
                </a:avLst>
              </a:prstGeom>
              <a:solidFill>
                <a:srgbClr val="C7A2AC"/>
              </a:solidFill>
            </p:spPr>
          </p:sp>
          <p:sp>
            <p:nvSpPr>
              <p:cNvPr id="9" name="Text 6"/>
              <p:cNvSpPr/>
              <p:nvPr/>
            </p:nvSpPr>
            <p:spPr>
              <a:xfrm>
                <a:off x="777" y="4482"/>
                <a:ext cx="2153" cy="2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Video Reels</a:t>
                </a:r>
                <a:endPara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endParaRPr>
              </a:p>
            </p:txBody>
          </p:sp>
        </p:grpSp>
        <p:sp>
          <p:nvSpPr>
            <p:cNvPr id="10" name="Text 7"/>
            <p:cNvSpPr/>
            <p:nvPr/>
          </p:nvSpPr>
          <p:spPr>
            <a:xfrm>
              <a:off x="777" y="4736"/>
              <a:ext cx="2110" cy="13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2 tutorial-style reels</a:t>
              </a:r>
              <a:endPara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416300" y="2923540"/>
            <a:ext cx="1883410" cy="353695"/>
            <a:chOff x="639" y="5020"/>
            <a:chExt cx="2966" cy="557"/>
          </a:xfrm>
        </p:grpSpPr>
        <p:grpSp>
          <p:nvGrpSpPr>
            <p:cNvPr id="27" name="Group 26"/>
            <p:cNvGrpSpPr/>
            <p:nvPr/>
          </p:nvGrpSpPr>
          <p:grpSpPr>
            <a:xfrm>
              <a:off x="639" y="5020"/>
              <a:ext cx="2290" cy="268"/>
              <a:chOff x="639" y="5130"/>
              <a:chExt cx="2290" cy="268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639" y="5193"/>
                <a:ext cx="60" cy="60"/>
              </a:xfrm>
              <a:prstGeom prst="roundRect">
                <a:avLst>
                  <a:gd name="adj" fmla="val 751460"/>
                </a:avLst>
              </a:prstGeom>
              <a:solidFill>
                <a:srgbClr val="C7A2AC"/>
              </a:solidFill>
            </p:spPr>
          </p:sp>
          <p:sp>
            <p:nvSpPr>
              <p:cNvPr id="12" name="Text 9"/>
              <p:cNvSpPr/>
              <p:nvPr/>
            </p:nvSpPr>
            <p:spPr>
              <a:xfrm>
                <a:off x="777" y="5130"/>
                <a:ext cx="2153" cy="2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LinkedIn Article</a:t>
                </a:r>
                <a:endPara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endParaRPr>
              </a:p>
            </p:txBody>
          </p:sp>
        </p:grpSp>
        <p:sp>
          <p:nvSpPr>
            <p:cNvPr id="13" name="Text 10"/>
            <p:cNvSpPr/>
            <p:nvPr/>
          </p:nvSpPr>
          <p:spPr>
            <a:xfrm>
              <a:off x="777" y="5457"/>
              <a:ext cx="2828" cy="12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1 long-form article published</a:t>
              </a:r>
              <a:endPara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455670" y="3886200"/>
            <a:ext cx="1883410" cy="379095"/>
            <a:chOff x="639" y="5762"/>
            <a:chExt cx="2966" cy="597"/>
          </a:xfrm>
        </p:grpSpPr>
        <p:grpSp>
          <p:nvGrpSpPr>
            <p:cNvPr id="28" name="Group 27"/>
            <p:cNvGrpSpPr/>
            <p:nvPr/>
          </p:nvGrpSpPr>
          <p:grpSpPr>
            <a:xfrm>
              <a:off x="639" y="5762"/>
              <a:ext cx="2290" cy="268"/>
              <a:chOff x="639" y="5762"/>
              <a:chExt cx="2290" cy="268"/>
            </a:xfrm>
          </p:grpSpPr>
          <p:sp>
            <p:nvSpPr>
              <p:cNvPr id="14" name="Shape 11"/>
              <p:cNvSpPr/>
              <p:nvPr/>
            </p:nvSpPr>
            <p:spPr>
              <a:xfrm>
                <a:off x="639" y="5825"/>
                <a:ext cx="60" cy="60"/>
              </a:xfrm>
              <a:prstGeom prst="roundRect">
                <a:avLst>
                  <a:gd name="adj" fmla="val 751460"/>
                </a:avLst>
              </a:prstGeom>
              <a:solidFill>
                <a:srgbClr val="C7A2AC"/>
              </a:solidFill>
            </p:spPr>
          </p:sp>
          <p:sp>
            <p:nvSpPr>
              <p:cNvPr id="15" name="Text 12"/>
              <p:cNvSpPr/>
              <p:nvPr/>
            </p:nvSpPr>
            <p:spPr>
              <a:xfrm>
                <a:off x="777" y="5762"/>
                <a:ext cx="2153" cy="2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Email Newsletter</a:t>
                </a:r>
                <a:endPara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endParaRPr>
              </a:p>
            </p:txBody>
          </p:sp>
        </p:grpSp>
        <p:sp>
          <p:nvSpPr>
            <p:cNvPr id="16" name="Text 13"/>
            <p:cNvSpPr/>
            <p:nvPr/>
          </p:nvSpPr>
          <p:spPr>
            <a:xfrm>
              <a:off x="777" y="6148"/>
              <a:ext cx="2828" cy="21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1 campaign via Mailchimp</a:t>
              </a:r>
              <a:endPara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110605" y="2955925"/>
            <a:ext cx="1905000" cy="432435"/>
            <a:chOff x="639" y="6394"/>
            <a:chExt cx="3000" cy="681"/>
          </a:xfrm>
        </p:grpSpPr>
        <p:grpSp>
          <p:nvGrpSpPr>
            <p:cNvPr id="29" name="Group 28"/>
            <p:cNvGrpSpPr/>
            <p:nvPr/>
          </p:nvGrpSpPr>
          <p:grpSpPr>
            <a:xfrm>
              <a:off x="639" y="6394"/>
              <a:ext cx="2290" cy="268"/>
              <a:chOff x="639" y="6394"/>
              <a:chExt cx="2290" cy="268"/>
            </a:xfrm>
          </p:grpSpPr>
          <p:sp>
            <p:nvSpPr>
              <p:cNvPr id="17" name="Shape 14"/>
              <p:cNvSpPr/>
              <p:nvPr/>
            </p:nvSpPr>
            <p:spPr>
              <a:xfrm>
                <a:off x="639" y="6457"/>
                <a:ext cx="60" cy="60"/>
              </a:xfrm>
              <a:prstGeom prst="roundRect">
                <a:avLst>
                  <a:gd name="adj" fmla="val 751460"/>
                </a:avLst>
              </a:prstGeom>
              <a:solidFill>
                <a:srgbClr val="C7A2AC"/>
              </a:solidFill>
            </p:spPr>
          </p:sp>
          <p:sp>
            <p:nvSpPr>
              <p:cNvPr id="18" name="Text 15"/>
              <p:cNvSpPr/>
              <p:nvPr/>
            </p:nvSpPr>
            <p:spPr>
              <a:xfrm>
                <a:off x="777" y="6394"/>
                <a:ext cx="2153" cy="2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Ad Campaigns</a:t>
                </a:r>
                <a:endPara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endParaRPr>
              </a:p>
            </p:txBody>
          </p:sp>
        </p:grpSp>
        <p:sp>
          <p:nvSpPr>
            <p:cNvPr id="19" name="Text 16"/>
            <p:cNvSpPr/>
            <p:nvPr/>
          </p:nvSpPr>
          <p:spPr>
            <a:xfrm>
              <a:off x="777" y="6778"/>
              <a:ext cx="2862" cy="29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2 mock Meta Ads campaigns</a:t>
              </a:r>
              <a:endPara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089576" y="3886200"/>
            <a:ext cx="1804688" cy="415925"/>
            <a:chOff x="639" y="7036"/>
            <a:chExt cx="2291" cy="655"/>
          </a:xfrm>
        </p:grpSpPr>
        <p:grpSp>
          <p:nvGrpSpPr>
            <p:cNvPr id="30" name="Group 29"/>
            <p:cNvGrpSpPr/>
            <p:nvPr/>
          </p:nvGrpSpPr>
          <p:grpSpPr>
            <a:xfrm>
              <a:off x="639" y="7036"/>
              <a:ext cx="2291" cy="269"/>
              <a:chOff x="639" y="7036"/>
              <a:chExt cx="2291" cy="269"/>
            </a:xfrm>
          </p:grpSpPr>
          <p:sp>
            <p:nvSpPr>
              <p:cNvPr id="20" name="Shape 17"/>
              <p:cNvSpPr/>
              <p:nvPr/>
            </p:nvSpPr>
            <p:spPr>
              <a:xfrm>
                <a:off x="639" y="7089"/>
                <a:ext cx="60" cy="60"/>
              </a:xfrm>
              <a:prstGeom prst="roundRect">
                <a:avLst>
                  <a:gd name="adj" fmla="val 751460"/>
                </a:avLst>
              </a:prstGeom>
              <a:solidFill>
                <a:srgbClr val="C7A2AC"/>
              </a:solidFill>
            </p:spPr>
          </p:sp>
          <p:sp>
            <p:nvSpPr>
              <p:cNvPr id="21" name="Text 18"/>
              <p:cNvSpPr/>
              <p:nvPr/>
            </p:nvSpPr>
            <p:spPr>
              <a:xfrm>
                <a:off x="777" y="7036"/>
                <a:ext cx="2153" cy="2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00" dirty="0">
                    <a:solidFill>
                      <a:srgbClr val="6E6666"/>
                    </a:solidFill>
                    <a:latin typeface="Baskervville" pitchFamily="34" charset="0"/>
                    <a:ea typeface="Baskervville" pitchFamily="34" charset="-122"/>
                    <a:cs typeface="Baskervville" pitchFamily="34" charset="-120"/>
                  </a:rPr>
                  <a:t>LinkedIn Updates</a:t>
                </a:r>
                <a:endPara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endParaRPr>
              </a:p>
            </p:txBody>
          </p:sp>
        </p:grpSp>
        <p:sp>
          <p:nvSpPr>
            <p:cNvPr id="22" name="Text 19"/>
            <p:cNvSpPr/>
            <p:nvPr/>
          </p:nvSpPr>
          <p:spPr>
            <a:xfrm>
              <a:off x="777" y="7422"/>
              <a:ext cx="1822" cy="26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9 professional posts</a:t>
              </a:r>
              <a:endPara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4" name="Text Box 23"/>
          <p:cNvSpPr txBox="1"/>
          <p:nvPr/>
        </p:nvSpPr>
        <p:spPr>
          <a:xfrm>
            <a:off x="337185" y="1624965"/>
            <a:ext cx="46615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  <a:sym typeface="+mn-ea"/>
              </a:rPr>
              <a:t>Over the course of the internship, a diverse content portfolio was built across multiple platforms and formats:</a:t>
            </a:r>
            <a:endParaRPr lang="en-US" sz="900" dirty="0">
              <a:solidFill>
                <a:srgbClr val="6E6666"/>
              </a:solidFill>
              <a:latin typeface="Poppins" panose="00000500000000000000" pitchFamily="34" charset="0"/>
              <a:ea typeface="Poppins" panose="00000500000000000000" pitchFamily="34" charset="-122"/>
              <a:cs typeface="Poppins" panose="00000500000000000000" pitchFamily="34" charset="-120"/>
            </a:endParaRPr>
          </a:p>
          <a:p>
            <a:endParaRPr lang="en-GB" altLang="en-US" sz="900"/>
          </a:p>
        </p:txBody>
      </p:sp>
      <p:sp>
        <p:nvSpPr>
          <p:cNvPr id="43" name="Text Box 42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5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5705" y="331515"/>
            <a:ext cx="3113112" cy="3319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Worked Best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05705" y="773832"/>
            <a:ext cx="4903589" cy="2653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The top-performing reel was a </a:t>
            </a:r>
            <a:r>
              <a:rPr lang="en-US" sz="800" b="1" dirty="0">
                <a:solidFill>
                  <a:srgbClr val="6E6666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Crochet Quran Cover Tutorial</a:t>
            </a:r>
            <a:r>
              <a:rPr lang="en-US" sz="8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 — combining education with a clear call-to-action.</a:t>
            </a:r>
            <a:endParaRPr lang="en-US" sz="800" dirty="0">
              <a:solidFill>
                <a:srgbClr val="6E6666"/>
              </a:solidFill>
              <a:latin typeface="Poppins" panose="00000500000000000000" pitchFamily="34" charset="0"/>
              <a:ea typeface="Poppins" panose="00000500000000000000" pitchFamily="34" charset="-122"/>
              <a:cs typeface="Poppins" panose="00000500000000000000" pitchFamily="34" charset="-12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05765" y="1066165"/>
            <a:ext cx="4903470" cy="3034030"/>
            <a:chOff x="639" y="1839"/>
            <a:chExt cx="7722" cy="4778"/>
          </a:xfrm>
        </p:grpSpPr>
        <p:sp>
          <p:nvSpPr>
            <p:cNvPr id="5" name="Text 2"/>
            <p:cNvSpPr/>
            <p:nvPr/>
          </p:nvSpPr>
          <p:spPr>
            <a:xfrm>
              <a:off x="639" y="1839"/>
              <a:ext cx="772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1,991</a:t>
              </a:r>
              <a:endParaRPr lang="en-US" sz="24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3193" y="2479"/>
              <a:ext cx="2614" cy="32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Views</a:t>
              </a:r>
              <a:endParaRPr lang="en-US" sz="13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39" y="3110"/>
              <a:ext cx="772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1,684</a:t>
              </a:r>
              <a:endParaRPr lang="en-US" sz="2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193" y="3750"/>
              <a:ext cx="2614" cy="32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Reach</a:t>
              </a:r>
              <a:endParaRPr lang="en-US" sz="13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39" y="4381"/>
              <a:ext cx="772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12</a:t>
              </a:r>
              <a:endParaRPr lang="en-US" sz="24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193" y="5021"/>
              <a:ext cx="2614" cy="32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Saves</a:t>
              </a:r>
              <a:endParaRPr lang="en-US" sz="13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39" y="5652"/>
              <a:ext cx="772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+5</a:t>
              </a:r>
              <a:endParaRPr lang="en-US" sz="2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3193" y="6291"/>
              <a:ext cx="2614" cy="32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Followers</a:t>
              </a:r>
              <a:endParaRPr lang="en-US" sz="1300" dirty="0"/>
            </a:p>
          </p:txBody>
        </p:sp>
      </p:grpSp>
      <p:sp>
        <p:nvSpPr>
          <p:cNvPr id="13" name="Shape 10"/>
          <p:cNvSpPr/>
          <p:nvPr/>
        </p:nvSpPr>
        <p:spPr>
          <a:xfrm>
            <a:off x="405765" y="4284980"/>
            <a:ext cx="4919345" cy="508000"/>
          </a:xfrm>
          <a:prstGeom prst="roundRect">
            <a:avLst>
              <a:gd name="adj" fmla="val 31213"/>
            </a:avLst>
          </a:prstGeom>
          <a:solidFill>
            <a:srgbClr val="ECDFE3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3" y="4410373"/>
            <a:ext cx="115416" cy="923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5817" y="4374579"/>
            <a:ext cx="4511129" cy="2653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Key Lesson:</a:t>
            </a:r>
            <a:r>
              <a:rPr lang="en-US" sz="8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 People love content that solves a problem. Educational, useful, easy-to-understand content consistently outperformed promotional posts.</a:t>
            </a:r>
            <a:endParaRPr lang="en-US" sz="800" dirty="0">
              <a:solidFill>
                <a:srgbClr val="000000"/>
              </a:solidFill>
              <a:latin typeface="Poppins" panose="00000500000000000000" pitchFamily="34" charset="0"/>
              <a:ea typeface="Poppins" panose="00000500000000000000" pitchFamily="34" charset="-122"/>
              <a:cs typeface="Poppins" panose="00000500000000000000" pitchFamily="34" charset="-12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6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" name="Shape 0"/>
          <p:cNvSpPr/>
          <p:nvPr/>
        </p:nvSpPr>
        <p:spPr>
          <a:xfrm>
            <a:off x="345440" y="192405"/>
            <a:ext cx="769620" cy="170815"/>
          </a:xfrm>
          <a:prstGeom prst="roundRect">
            <a:avLst>
              <a:gd name="adj" fmla="val 77061"/>
            </a:avLst>
          </a:prstGeom>
          <a:solidFill>
            <a:srgbClr val="ECDFE3"/>
          </a:solidFill>
        </p:spPr>
        <p:txBody>
          <a:bodyPr/>
          <a:p>
            <a:endParaRPr lang="en-GB" altLang="en-US"/>
          </a:p>
        </p:txBody>
      </p:sp>
      <p:sp>
        <p:nvSpPr>
          <p:cNvPr id="3" name="Text 1"/>
          <p:cNvSpPr/>
          <p:nvPr/>
        </p:nvSpPr>
        <p:spPr>
          <a:xfrm>
            <a:off x="421640" y="206375"/>
            <a:ext cx="730250" cy="933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CHAPTER 3</a:t>
            </a:r>
            <a:endParaRPr lang="en-US" sz="800" dirty="0">
              <a:solidFill>
                <a:srgbClr val="6E6666"/>
              </a:solidFill>
              <a:latin typeface="Poppins" panose="00000500000000000000" pitchFamily="34" charset="0"/>
              <a:ea typeface="Poppins" panose="00000500000000000000" pitchFamily="34" charset="-122"/>
              <a:cs typeface="Poppins" panose="00000500000000000000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5380" y="343753"/>
            <a:ext cx="2123629" cy="2082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Growth Achieved</a:t>
            </a:r>
            <a:endParaRPr lang="en-US" sz="1600" dirty="0">
              <a:solidFill>
                <a:srgbClr val="787878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5440" y="595630"/>
            <a:ext cx="3649980" cy="1828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Every SMART goal was </a:t>
            </a:r>
            <a:r>
              <a:rPr lang="en-US" sz="800" b="1" dirty="0">
                <a:solidFill>
                  <a:srgbClr val="6E6666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achieved and exceeded</a:t>
            </a:r>
            <a:r>
              <a:rPr lang="en-US" sz="8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 across both platforms.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" y="766445"/>
            <a:ext cx="8295640" cy="345503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72660" y="4342765"/>
            <a:ext cx="8799240" cy="321846"/>
            <a:chOff x="279" y="8518"/>
            <a:chExt cx="13857" cy="507"/>
          </a:xfrm>
        </p:grpSpPr>
        <p:sp>
          <p:nvSpPr>
            <p:cNvPr id="7" name="Text 4"/>
            <p:cNvSpPr/>
            <p:nvPr/>
          </p:nvSpPr>
          <p:spPr>
            <a:xfrm>
              <a:off x="1549" y="8518"/>
              <a:ext cx="2360" cy="20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Instagram Growth</a:t>
              </a:r>
              <a:endParaRPr lang="en-US" sz="1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279" y="8915"/>
              <a:ext cx="4901" cy="10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b="1" dirty="0">
                  <a:solidFill>
                    <a:srgbClr val="6E6666"/>
                  </a:solidFill>
                  <a:latin typeface="Poppins Bold" panose="00000800000000000000" pitchFamily="34" charset="0"/>
                  <a:ea typeface="Poppins Bold" panose="00000800000000000000" pitchFamily="34" charset="-122"/>
                  <a:cs typeface="Poppins Bold" panose="00000800000000000000" pitchFamily="34" charset="-120"/>
                </a:rPr>
                <a:t>+54.5%</a:t>
              </a:r>
              <a:r>
                <a:rPr lang="en-US" sz="12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 followers</a:t>
              </a:r>
              <a:endParaRPr lang="en-US" sz="1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027" y="8518"/>
              <a:ext cx="2360" cy="20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Profile Visits</a:t>
              </a:r>
              <a:endParaRPr lang="en-US" sz="1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4690" y="8915"/>
              <a:ext cx="5034" cy="10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b="1" dirty="0">
                  <a:solidFill>
                    <a:srgbClr val="6E6666"/>
                  </a:solidFill>
                  <a:latin typeface="Poppins Bold" panose="00000800000000000000" pitchFamily="34" charset="0"/>
                  <a:ea typeface="Poppins Bold" panose="00000800000000000000" pitchFamily="34" charset="-122"/>
                  <a:cs typeface="Poppins Bold" panose="00000800000000000000" pitchFamily="34" charset="-120"/>
                </a:rPr>
                <a:t>+265%</a:t>
              </a:r>
              <a:r>
                <a:rPr lang="en-US" sz="12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 increase</a:t>
              </a:r>
              <a:endParaRPr lang="en-US" sz="1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505" y="8518"/>
              <a:ext cx="2360" cy="20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Facebook Growth</a:t>
              </a:r>
              <a:endParaRPr lang="en-US" sz="1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9235" y="8915"/>
              <a:ext cx="4901" cy="10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b="1" dirty="0">
                  <a:solidFill>
                    <a:srgbClr val="6E6666"/>
                  </a:solidFill>
                  <a:latin typeface="Poppins Bold" panose="00000800000000000000" pitchFamily="34" charset="0"/>
                  <a:ea typeface="Poppins Bold" panose="00000800000000000000" pitchFamily="34" charset="-122"/>
                  <a:cs typeface="Poppins Bold" panose="00000800000000000000" pitchFamily="34" charset="-120"/>
                </a:rPr>
                <a:t>+385%</a:t>
              </a:r>
              <a:r>
                <a:rPr lang="en-US" sz="12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 followers</a:t>
              </a:r>
              <a:endParaRPr lang="en-US" sz="1200" dirty="0"/>
            </a:p>
          </p:txBody>
        </p:sp>
      </p:grpSp>
      <p:sp>
        <p:nvSpPr>
          <p:cNvPr id="18" name="Text Box 17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7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5765" y="1166495"/>
            <a:ext cx="1485265" cy="217170"/>
            <a:chOff x="639" y="1837"/>
            <a:chExt cx="2339" cy="342"/>
          </a:xfrm>
        </p:grpSpPr>
        <p:sp>
          <p:nvSpPr>
            <p:cNvPr id="2" name="Shape 0"/>
            <p:cNvSpPr/>
            <p:nvPr/>
          </p:nvSpPr>
          <p:spPr>
            <a:xfrm>
              <a:off x="639" y="1837"/>
              <a:ext cx="1730" cy="343"/>
            </a:xfrm>
            <a:prstGeom prst="roundRect">
              <a:avLst>
                <a:gd name="adj" fmla="val 63870"/>
              </a:avLst>
            </a:prstGeom>
            <a:solidFill>
              <a:srgbClr val="ECDFE3"/>
            </a:solidFill>
          </p:spPr>
        </p:sp>
        <p:sp>
          <p:nvSpPr>
            <p:cNvPr id="3" name="Text 1"/>
            <p:cNvSpPr/>
            <p:nvPr/>
          </p:nvSpPr>
          <p:spPr>
            <a:xfrm>
              <a:off x="748" y="1891"/>
              <a:ext cx="2231" cy="23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7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CONTENT MARKETING</a:t>
              </a:r>
              <a:endParaRPr lang="en-US" sz="7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62100" y="1166495"/>
            <a:ext cx="1287780" cy="217170"/>
            <a:chOff x="2460" y="1837"/>
            <a:chExt cx="2028" cy="342"/>
          </a:xfrm>
        </p:grpSpPr>
        <p:sp>
          <p:nvSpPr>
            <p:cNvPr id="4" name="Shape 2"/>
            <p:cNvSpPr/>
            <p:nvPr/>
          </p:nvSpPr>
          <p:spPr>
            <a:xfrm>
              <a:off x="2460" y="1837"/>
              <a:ext cx="1417" cy="343"/>
            </a:xfrm>
            <a:prstGeom prst="roundRect">
              <a:avLst>
                <a:gd name="adj" fmla="val 63870"/>
              </a:avLst>
            </a:prstGeom>
            <a:solidFill>
              <a:srgbClr val="ECDFE3"/>
            </a:solidFill>
          </p:spPr>
        </p:sp>
        <p:sp>
          <p:nvSpPr>
            <p:cNvPr id="5" name="Text 3"/>
            <p:cNvSpPr/>
            <p:nvPr/>
          </p:nvSpPr>
          <p:spPr>
            <a:xfrm>
              <a:off x="2570" y="1891"/>
              <a:ext cx="1918" cy="23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7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LINKEDIN ARTICLE</a:t>
              </a:r>
              <a:endParaRPr lang="en-US" sz="7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405705" y="1430387"/>
            <a:ext cx="4024908" cy="12497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"Why Crochet Gifts Hold More Value Than Retail Luxury"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05705" y="2795960"/>
            <a:ext cx="4024908" cy="556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Instead of competing on price, the article positioned handmade crochet products as meaningful, personalized gifts — using storytelling, emotional value, and accessible formatting.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149" y="1105867"/>
            <a:ext cx="4024908" cy="2280717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405130" y="3688715"/>
            <a:ext cx="2694940" cy="548640"/>
            <a:chOff x="616" y="5721"/>
            <a:chExt cx="4244" cy="864"/>
          </a:xfrm>
        </p:grpSpPr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6" y="5721"/>
              <a:ext cx="4244" cy="865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866" y="5744"/>
              <a:ext cx="3280" cy="41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200 Impressions</a:t>
              </a:r>
              <a:endParaRPr lang="en-US" sz="16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086100" y="3688715"/>
            <a:ext cx="2694940" cy="548640"/>
            <a:chOff x="5066" y="5721"/>
            <a:chExt cx="4244" cy="864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66" y="5721"/>
              <a:ext cx="4244" cy="865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5316" y="5744"/>
              <a:ext cx="3785" cy="41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116 Reach · 6 Engagements</a:t>
              </a:r>
              <a:endParaRPr lang="en-US" sz="16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43295" y="3704590"/>
            <a:ext cx="2694940" cy="548640"/>
            <a:chOff x="9517" y="5721"/>
            <a:chExt cx="4244" cy="864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17" y="5721"/>
              <a:ext cx="4245" cy="865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9767" y="5744"/>
              <a:ext cx="3995" cy="8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2 Comments · 1 New Follower</a:t>
              </a:r>
              <a:endParaRPr lang="en-US" sz="1600" dirty="0"/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8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1132508"/>
            <a:ext cx="5497562" cy="416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Campaign Strategy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780877"/>
            <a:ext cx="589731" cy="7371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0321" y="1780877"/>
            <a:ext cx="1946300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Handmade Value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40321" y="2110680"/>
            <a:ext cx="1946300" cy="9271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It highlighted handcrafted techniques, materials, and the time behind each piece to connect with makers and appreciative buyers.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505" y="1780877"/>
            <a:ext cx="589731" cy="7371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66121" y="1780877"/>
            <a:ext cx="1946300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Craftsmanship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966121" y="2110680"/>
            <a:ext cx="1946300" cy="9271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Stories about process and small-batch production created authenticity—readers felt the maker’s presence, not a storefront pitch.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305" y="1780877"/>
            <a:ext cx="589806" cy="73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1960" y="1802765"/>
            <a:ext cx="2268855" cy="307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Emotional Connection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791995" y="2110631"/>
            <a:ext cx="1946300" cy="9271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Content focused on feelings—gift moments, cozy rituals, and the meaning of handmade—so the message built rapport before any ask.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68" y="3590999"/>
            <a:ext cx="144884" cy="115863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>
            <a:off x="405705" y="3466654"/>
            <a:ext cx="8332589" cy="451991"/>
            <a:chOff x="639" y="5399"/>
            <a:chExt cx="13122" cy="712"/>
          </a:xfrm>
        </p:grpSpPr>
        <p:sp>
          <p:nvSpPr>
            <p:cNvPr id="12" name="Shape 7"/>
            <p:cNvSpPr/>
            <p:nvPr/>
          </p:nvSpPr>
          <p:spPr>
            <a:xfrm>
              <a:off x="639" y="5399"/>
              <a:ext cx="13122" cy="712"/>
            </a:xfrm>
            <a:prstGeom prst="roundRect">
              <a:avLst>
                <a:gd name="adj" fmla="val 38473"/>
              </a:avLst>
            </a:prstGeom>
            <a:solidFill>
              <a:srgbClr val="ECDFE3"/>
            </a:solidFill>
          </p:spPr>
        </p:sp>
        <p:sp>
          <p:nvSpPr>
            <p:cNvPr id="14" name="Text 8"/>
            <p:cNvSpPr/>
            <p:nvPr/>
          </p:nvSpPr>
          <p:spPr>
            <a:xfrm>
              <a:off x="1050" y="5568"/>
              <a:ext cx="11725" cy="29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000" dirty="0">
                  <a:solidFill>
                    <a:srgbClr val="000000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Approach: Educate and connect first; selling is the natural next step.</a:t>
              </a:r>
              <a:endParaRPr lang="en-US" sz="10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06400" y="915035"/>
            <a:ext cx="1098550" cy="217805"/>
            <a:chOff x="640" y="1495"/>
            <a:chExt cx="1730" cy="343"/>
          </a:xfrm>
        </p:grpSpPr>
        <p:sp>
          <p:nvSpPr>
            <p:cNvPr id="15" name="Shape 0"/>
            <p:cNvSpPr/>
            <p:nvPr/>
          </p:nvSpPr>
          <p:spPr>
            <a:xfrm>
              <a:off x="640" y="1495"/>
              <a:ext cx="1730" cy="343"/>
            </a:xfrm>
            <a:prstGeom prst="roundRect">
              <a:avLst>
                <a:gd name="adj" fmla="val 63870"/>
              </a:avLst>
            </a:prstGeom>
            <a:solidFill>
              <a:srgbClr val="ECDFE3"/>
            </a:solidFill>
          </p:spPr>
        </p:sp>
        <p:sp>
          <p:nvSpPr>
            <p:cNvPr id="16" name="Text 1"/>
            <p:cNvSpPr/>
            <p:nvPr/>
          </p:nvSpPr>
          <p:spPr>
            <a:xfrm>
              <a:off x="821" y="1549"/>
              <a:ext cx="1386" cy="23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7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EMAIL MARKETING</a:t>
              </a:r>
              <a:endParaRPr lang="en-US" sz="700" dirty="0"/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562100" y="915670"/>
            <a:ext cx="773430" cy="217170"/>
            <a:chOff x="2460" y="1496"/>
            <a:chExt cx="1218" cy="342"/>
          </a:xfrm>
        </p:grpSpPr>
        <p:sp>
          <p:nvSpPr>
            <p:cNvPr id="17" name="Shape 2"/>
            <p:cNvSpPr/>
            <p:nvPr/>
          </p:nvSpPr>
          <p:spPr>
            <a:xfrm>
              <a:off x="2460" y="1496"/>
              <a:ext cx="1219" cy="343"/>
            </a:xfrm>
            <a:prstGeom prst="roundRect">
              <a:avLst>
                <a:gd name="adj" fmla="val 63870"/>
              </a:avLst>
            </a:prstGeom>
            <a:solidFill>
              <a:srgbClr val="ECDFE3"/>
            </a:solidFill>
          </p:spPr>
        </p:sp>
        <p:sp>
          <p:nvSpPr>
            <p:cNvPr id="18" name="Text 3"/>
            <p:cNvSpPr/>
            <p:nvPr/>
          </p:nvSpPr>
          <p:spPr>
            <a:xfrm>
              <a:off x="2658" y="1548"/>
              <a:ext cx="1021" cy="23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7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MAILCHIMP</a:t>
              </a:r>
              <a:endParaRPr lang="en-US" sz="700" dirty="0"/>
            </a:p>
          </p:txBody>
        </p:sp>
      </p:grpSp>
      <p:sp>
        <p:nvSpPr>
          <p:cNvPr id="25" name="Text Box 24"/>
          <p:cNvSpPr txBox="1"/>
          <p:nvPr/>
        </p:nvSpPr>
        <p:spPr>
          <a:xfrm>
            <a:off x="8738235" y="117475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9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697632"/>
            <a:ext cx="8386018" cy="416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Campaign Performance 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418406"/>
            <a:ext cx="4024908" cy="2897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8149" y="1392362"/>
            <a:ext cx="4425851" cy="185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Interpretation:</a:t>
            </a:r>
            <a:endParaRPr lang="en-US" sz="1600" dirty="0">
              <a:solidFill>
                <a:srgbClr val="6E6666"/>
              </a:solidFill>
              <a:latin typeface="Poppins" panose="00000500000000000000" pitchFamily="34" charset="0"/>
              <a:ea typeface="Poppins" panose="00000500000000000000" pitchFamily="34" charset="-122"/>
              <a:cs typeface="Poppins" panose="00000500000000000000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18685" y="1856105"/>
            <a:ext cx="4024630" cy="1271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Strong open rate for a tiny list indicates that subject lines and emotional content resonated.</a:t>
            </a:r>
            <a:endParaRPr lang="en-US" sz="10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Zero bounces/unsubscribes indicate list quality and relevancy.</a:t>
            </a:r>
            <a:endParaRPr lang="en-US" sz="10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Small sample size limits statistical confidence, but qualitative signals matter: inquiries and custom orders.</a:t>
            </a:r>
            <a:endParaRPr lang="en-US" sz="1000" dirty="0">
              <a:solidFill>
                <a:srgbClr val="6E6666"/>
              </a:solidFill>
              <a:latin typeface="Poppins" panose="00000500000000000000" pitchFamily="34" charset="0"/>
              <a:ea typeface="Poppins" panose="00000500000000000000" pitchFamily="34" charset="-122"/>
              <a:cs typeface="Poppins" panose="00000500000000000000" pitchFamily="3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8603615" y="117475"/>
            <a:ext cx="456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10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65" y="391160"/>
            <a:ext cx="2031365" cy="292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Mock Meta Ads</a:t>
            </a:r>
            <a:endParaRPr lang="en-US" sz="2000" dirty="0">
              <a:solidFill>
                <a:srgbClr val="787878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" y="779145"/>
            <a:ext cx="3461385" cy="1961515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4222115" y="1008935"/>
            <a:ext cx="4170391" cy="1055926"/>
            <a:chOff x="7364" y="2682"/>
            <a:chExt cx="6405" cy="578"/>
          </a:xfrm>
        </p:grpSpPr>
        <p:sp>
          <p:nvSpPr>
            <p:cNvPr id="4" name="Text 1"/>
            <p:cNvSpPr/>
            <p:nvPr/>
          </p:nvSpPr>
          <p:spPr>
            <a:xfrm>
              <a:off x="7364" y="2682"/>
              <a:ext cx="3027" cy="28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787878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Campaigns Designed</a:t>
              </a:r>
              <a:endParaRPr lang="en-US" sz="1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endParaRPr>
            </a:p>
          </p:txBody>
        </p:sp>
        <p:sp>
          <p:nvSpPr>
            <p:cNvPr id="5" name="Text 2"/>
            <p:cNvSpPr/>
            <p:nvPr/>
          </p:nvSpPr>
          <p:spPr>
            <a:xfrm>
              <a:off x="7364" y="2911"/>
              <a:ext cx="6405" cy="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8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Outcome (mock): Ads weren’t run, but strategy clarified audiences and creative direction—ready to deploy when budget allows.</a:t>
              </a:r>
              <a:endParaRPr lang="en-US" sz="8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05765" y="2976245"/>
            <a:ext cx="4137660" cy="510540"/>
            <a:chOff x="639" y="5059"/>
            <a:chExt cx="6516" cy="804"/>
          </a:xfrm>
        </p:grpSpPr>
        <p:sp>
          <p:nvSpPr>
            <p:cNvPr id="6" name="Shape 3"/>
            <p:cNvSpPr/>
            <p:nvPr/>
          </p:nvSpPr>
          <p:spPr>
            <a:xfrm>
              <a:off x="639" y="5059"/>
              <a:ext cx="6516" cy="804"/>
            </a:xfrm>
            <a:prstGeom prst="roundRect">
              <a:avLst>
                <a:gd name="adj" fmla="val 23955"/>
              </a:avLst>
            </a:prstGeom>
            <a:solidFill>
              <a:srgbClr val="FFFFFF"/>
            </a:solidFill>
            <a:ln w="9525">
              <a:solidFill>
                <a:srgbClr val="D2C5C9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782" y="5203"/>
              <a:ext cx="2307" cy="28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5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Brand Awareness</a:t>
              </a:r>
              <a:endParaRPr lang="en-US" sz="11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82" y="5545"/>
              <a:ext cx="6229" cy="1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6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Target: Women 18–35 | Interests: Crochet, DIY | Budget: PKR 2,200 | 8 days</a:t>
              </a:r>
              <a:endParaRPr lang="en-US" sz="6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600575" y="2973705"/>
            <a:ext cx="4137660" cy="510540"/>
            <a:chOff x="7245" y="5059"/>
            <a:chExt cx="6516" cy="804"/>
          </a:xfrm>
        </p:grpSpPr>
        <p:sp>
          <p:nvSpPr>
            <p:cNvPr id="9" name="Shape 6"/>
            <p:cNvSpPr/>
            <p:nvPr/>
          </p:nvSpPr>
          <p:spPr>
            <a:xfrm>
              <a:off x="7245" y="5059"/>
              <a:ext cx="6516" cy="804"/>
            </a:xfrm>
            <a:prstGeom prst="roundRect">
              <a:avLst>
                <a:gd name="adj" fmla="val 23955"/>
              </a:avLst>
            </a:prstGeom>
            <a:solidFill>
              <a:srgbClr val="FFFFFF"/>
            </a:solidFill>
            <a:ln w="9525">
              <a:solidFill>
                <a:srgbClr val="D2C5C9"/>
              </a:solidFill>
              <a:prstDash val="solid"/>
            </a:ln>
          </p:spPr>
        </p:sp>
        <p:sp>
          <p:nvSpPr>
            <p:cNvPr id="10" name="Text 7"/>
            <p:cNvSpPr/>
            <p:nvPr/>
          </p:nvSpPr>
          <p:spPr>
            <a:xfrm>
              <a:off x="7388" y="5203"/>
              <a:ext cx="2307" cy="28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5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Conversions</a:t>
              </a:r>
              <a:endParaRPr lang="en-US" sz="11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388" y="5545"/>
              <a:ext cx="6229" cy="1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6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Target: Men &amp; Women 18–35 | Interests: Gift Buyers, Home Décor | Budget: PKR 2,300 | 14 days</a:t>
              </a:r>
              <a:endParaRPr lang="en-US" sz="600" dirty="0"/>
            </a:p>
          </p:txBody>
        </p:sp>
      </p:grpSp>
      <p:sp>
        <p:nvSpPr>
          <p:cNvPr id="12" name="Shape 9"/>
          <p:cNvSpPr/>
          <p:nvPr/>
        </p:nvSpPr>
        <p:spPr>
          <a:xfrm>
            <a:off x="405705" y="3644647"/>
            <a:ext cx="8332589" cy="4763"/>
          </a:xfrm>
          <a:prstGeom prst="roundRect">
            <a:avLst>
              <a:gd name="adj" fmla="val 119987"/>
            </a:avLst>
          </a:prstGeom>
          <a:solidFill>
            <a:srgbClr val="6E6666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705" y="3746148"/>
            <a:ext cx="1921892" cy="183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Real Business Impact</a:t>
            </a:r>
            <a:endParaRPr lang="en-US" sz="1400" dirty="0">
              <a:solidFill>
                <a:srgbClr val="787878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81635" y="4120515"/>
            <a:ext cx="4130040" cy="619760"/>
            <a:chOff x="639" y="6595"/>
            <a:chExt cx="6504" cy="976"/>
          </a:xfrm>
        </p:grpSpPr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9" y="6595"/>
              <a:ext cx="976" cy="976"/>
            </a:xfrm>
            <a:prstGeom prst="rect">
              <a:avLst/>
            </a:prstGeom>
          </p:spPr>
        </p:pic>
        <p:sp>
          <p:nvSpPr>
            <p:cNvPr id="15" name="Text 11"/>
            <p:cNvSpPr/>
            <p:nvPr/>
          </p:nvSpPr>
          <p:spPr>
            <a:xfrm>
              <a:off x="1727" y="6595"/>
              <a:ext cx="2307" cy="28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Customer Inquiry</a:t>
              </a:r>
              <a:endParaRPr lang="en-US" sz="12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727" y="6938"/>
              <a:ext cx="5416" cy="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65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1 inquiry about crochet flower coaster pricing—direct evidence content sparked purchase interest.</a:t>
              </a:r>
              <a:endParaRPr lang="en-US" sz="65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691380" y="4139565"/>
            <a:ext cx="4130675" cy="619760"/>
            <a:chOff x="7256" y="6595"/>
            <a:chExt cx="6505" cy="976"/>
          </a:xfrm>
        </p:grpSpPr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6" y="6595"/>
              <a:ext cx="976" cy="976"/>
            </a:xfrm>
            <a:prstGeom prst="rect">
              <a:avLst/>
            </a:prstGeom>
          </p:spPr>
        </p:pic>
        <p:sp>
          <p:nvSpPr>
            <p:cNvPr id="18" name="Text 13"/>
            <p:cNvSpPr/>
            <p:nvPr/>
          </p:nvSpPr>
          <p:spPr>
            <a:xfrm>
              <a:off x="8345" y="6595"/>
              <a:ext cx="2307" cy="28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dirty="0">
                  <a:solidFill>
                    <a:srgbClr val="6E6666"/>
                  </a:solidFill>
                  <a:latin typeface="Baskervville" pitchFamily="34" charset="0"/>
                  <a:ea typeface="Baskervville" pitchFamily="34" charset="-122"/>
                  <a:cs typeface="Baskervville" pitchFamily="34" charset="-120"/>
                </a:rPr>
                <a:t>Custom Orders</a:t>
              </a:r>
              <a:endParaRPr lang="en-US" sz="12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endParaRPr>
            </a:p>
          </p:txBody>
        </p:sp>
        <p:sp>
          <p:nvSpPr>
            <p:cNvPr id="19" name="Text 14"/>
            <p:cNvSpPr/>
            <p:nvPr/>
          </p:nvSpPr>
          <p:spPr>
            <a:xfrm>
              <a:off x="8345" y="6938"/>
              <a:ext cx="5416" cy="3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65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3 custom orders received for items not even listed—shows trust and willingness to buy bespoke pieces.</a:t>
              </a:r>
              <a:endParaRPr lang="en-US" sz="65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endParaRP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21" name="Group 20"/>
          <p:cNvGrpSpPr/>
          <p:nvPr/>
        </p:nvGrpSpPr>
        <p:grpSpPr>
          <a:xfrm>
            <a:off x="381635" y="209550"/>
            <a:ext cx="954405" cy="158750"/>
            <a:chOff x="640" y="1495"/>
            <a:chExt cx="1730" cy="343"/>
          </a:xfrm>
        </p:grpSpPr>
        <p:sp>
          <p:nvSpPr>
            <p:cNvPr id="20" name="Shape 0"/>
            <p:cNvSpPr/>
            <p:nvPr/>
          </p:nvSpPr>
          <p:spPr>
            <a:xfrm>
              <a:off x="640" y="1495"/>
              <a:ext cx="1730" cy="343"/>
            </a:xfrm>
            <a:prstGeom prst="roundRect">
              <a:avLst>
                <a:gd name="adj" fmla="val 63870"/>
              </a:avLst>
            </a:prstGeom>
            <a:solidFill>
              <a:srgbClr val="ECDFE3"/>
            </a:solidFill>
          </p:spPr>
        </p:sp>
        <p:sp>
          <p:nvSpPr>
            <p:cNvPr id="22" name="Text 1"/>
            <p:cNvSpPr/>
            <p:nvPr/>
          </p:nvSpPr>
          <p:spPr>
            <a:xfrm>
              <a:off x="821" y="1549"/>
              <a:ext cx="1386" cy="23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700" dirty="0">
                  <a:solidFill>
                    <a:srgbClr val="6E6666"/>
                  </a:solidFill>
                  <a:latin typeface="Poppins" panose="00000500000000000000" pitchFamily="34" charset="0"/>
                  <a:ea typeface="Poppins" panose="00000500000000000000" pitchFamily="34" charset="-122"/>
                  <a:cs typeface="Poppins" panose="00000500000000000000" pitchFamily="34" charset="-120"/>
                </a:rPr>
                <a:t>ADVERTISEMENT</a:t>
              </a:r>
              <a:endParaRPr lang="en-US" sz="7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414780" y="196215"/>
            <a:ext cx="913130" cy="194945"/>
            <a:chOff x="2460" y="1496"/>
            <a:chExt cx="1475" cy="343"/>
          </a:xfrm>
        </p:grpSpPr>
        <p:sp>
          <p:nvSpPr>
            <p:cNvPr id="25" name="Shape 2"/>
            <p:cNvSpPr/>
            <p:nvPr/>
          </p:nvSpPr>
          <p:spPr>
            <a:xfrm>
              <a:off x="2460" y="1496"/>
              <a:ext cx="1475" cy="343"/>
            </a:xfrm>
            <a:prstGeom prst="roundRect">
              <a:avLst>
                <a:gd name="adj" fmla="val 63870"/>
              </a:avLst>
            </a:prstGeom>
            <a:solidFill>
              <a:srgbClr val="ECDFE3"/>
            </a:solidFill>
          </p:spPr>
        </p:sp>
        <p:sp>
          <p:nvSpPr>
            <p:cNvPr id="26" name="Text 3"/>
            <p:cNvSpPr/>
            <p:nvPr/>
          </p:nvSpPr>
          <p:spPr>
            <a:xfrm>
              <a:off x="2558" y="1547"/>
              <a:ext cx="1279" cy="23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700" dirty="0">
                  <a:solidFill>
                    <a:srgbClr val="787878"/>
                  </a:solidFill>
                </a:rPr>
                <a:t>META ADS MANAGER</a:t>
              </a:r>
              <a:endParaRPr lang="en-US" sz="700" dirty="0">
                <a:solidFill>
                  <a:srgbClr val="787878"/>
                </a:solidFill>
              </a:endParaRPr>
            </a:p>
          </p:txBody>
        </p:sp>
      </p:grpSp>
      <p:sp>
        <p:nvSpPr>
          <p:cNvPr id="32" name="Text 0"/>
          <p:cNvSpPr/>
          <p:nvPr/>
        </p:nvSpPr>
        <p:spPr>
          <a:xfrm>
            <a:off x="4222115" y="1906270"/>
            <a:ext cx="2031365" cy="292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Ad </a:t>
            </a:r>
            <a:r>
              <a:rPr lang="en-US" sz="1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Strategy</a:t>
            </a:r>
            <a:endParaRPr lang="en-US" sz="1400" dirty="0">
              <a:solidFill>
                <a:srgbClr val="787878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sp>
        <p:nvSpPr>
          <p:cNvPr id="34" name="Text 2"/>
          <p:cNvSpPr/>
          <p:nvPr/>
        </p:nvSpPr>
        <p:spPr>
          <a:xfrm>
            <a:off x="4222115" y="2346960"/>
            <a:ext cx="417068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Two mock Ads were prepared, one for Awareness and second for Conversion.</a:t>
            </a:r>
            <a:endParaRPr lang="en-US" sz="800" dirty="0">
              <a:solidFill>
                <a:srgbClr val="6E6666"/>
              </a:solidFill>
              <a:latin typeface="Poppins" panose="00000500000000000000" pitchFamily="34" charset="0"/>
              <a:ea typeface="Poppins" panose="00000500000000000000" pitchFamily="34" charset="-122"/>
              <a:cs typeface="Poppins" panose="00000500000000000000" pitchFamily="34" charset="-12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8603615" y="117475"/>
            <a:ext cx="456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11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" name="Text 0"/>
          <p:cNvSpPr/>
          <p:nvPr/>
        </p:nvSpPr>
        <p:spPr>
          <a:xfrm>
            <a:off x="405705" y="438001"/>
            <a:ext cx="4761458" cy="364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Challenges &amp; Solutions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332631" y="935608"/>
            <a:ext cx="3330625" cy="3090044"/>
          </a:xfrm>
          <a:prstGeom prst="roundRect">
            <a:avLst>
              <a:gd name="adj" fmla="val 7879"/>
            </a:avLst>
          </a:prstGeom>
          <a:solidFill>
            <a:srgbClr val="C7A2AC"/>
          </a:solidFill>
        </p:spPr>
      </p:sp>
      <p:sp>
        <p:nvSpPr>
          <p:cNvPr id="4" name="Text 2"/>
          <p:cNvSpPr/>
          <p:nvPr/>
        </p:nvSpPr>
        <p:spPr>
          <a:xfrm>
            <a:off x="578202" y="1251005"/>
            <a:ext cx="2279898" cy="2277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Key Challenges</a:t>
            </a:r>
            <a:endParaRPr lang="en-US" sz="1600" dirty="0">
              <a:solidFill>
                <a:schemeClr val="tx1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5765" y="1635125"/>
            <a:ext cx="3128010" cy="8655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8600" indent="-228600" algn="l">
              <a:lnSpc>
                <a:spcPct val="125000"/>
              </a:lnSpc>
              <a:buSzPct val="100000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Cambria" panose="02040503050406030204" charset="0"/>
                <a:ea typeface="Poppins" panose="00000500000000000000" pitchFamily="34" charset="-122"/>
                <a:cs typeface="Cambria" panose="02040503050406030204" charset="0"/>
              </a:rPr>
              <a:t>Scheduling issues in Meta Business Suite</a:t>
            </a:r>
            <a:endParaRPr lang="en-US" sz="1000" dirty="0">
              <a:latin typeface="Cambria" panose="02040503050406030204" charset="0"/>
              <a:cs typeface="Cambria" panose="02040503050406030204" charset="0"/>
            </a:endParaRPr>
          </a:p>
          <a:p>
            <a:pPr marL="228600" indent="-228600" algn="l">
              <a:lnSpc>
                <a:spcPct val="125000"/>
              </a:lnSpc>
              <a:buSzPct val="100000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Cambria" panose="02040503050406030204" charset="0"/>
                <a:ea typeface="Poppins" panose="00000500000000000000" pitchFamily="34" charset="-122"/>
                <a:cs typeface="Cambria" panose="02040503050406030204" charset="0"/>
              </a:rPr>
              <a:t>Limited Mailchimp analytics</a:t>
            </a:r>
            <a:endParaRPr lang="en-US" sz="1000" dirty="0">
              <a:latin typeface="Cambria" panose="02040503050406030204" charset="0"/>
              <a:cs typeface="Cambria" panose="02040503050406030204" charset="0"/>
            </a:endParaRPr>
          </a:p>
          <a:p>
            <a:pPr marL="228600" indent="-228600" algn="l">
              <a:lnSpc>
                <a:spcPct val="125000"/>
              </a:lnSpc>
              <a:buSzPct val="100000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Cambria" panose="02040503050406030204" charset="0"/>
                <a:ea typeface="Poppins" panose="00000500000000000000" pitchFamily="34" charset="-122"/>
                <a:cs typeface="Cambria" panose="02040503050406030204" charset="0"/>
              </a:rPr>
              <a:t>No current ad spend available</a:t>
            </a:r>
            <a:endParaRPr lang="en-US" sz="1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2445" y="1024310"/>
            <a:ext cx="2279898" cy="2277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Practical Solutions</a:t>
            </a:r>
            <a:endParaRPr lang="en-US" sz="1600" dirty="0">
              <a:solidFill>
                <a:srgbClr val="787878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2445" y="1351880"/>
            <a:ext cx="202853" cy="12672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2445" y="1509861"/>
            <a:ext cx="2405881" cy="14288"/>
          </a:xfrm>
          <a:prstGeom prst="rect">
            <a:avLst/>
          </a:prstGeom>
          <a:solidFill>
            <a:srgbClr val="C7A2AC"/>
          </a:solidFill>
        </p:spPr>
      </p:sp>
      <p:sp>
        <p:nvSpPr>
          <p:cNvPr id="9" name="Text 7"/>
          <p:cNvSpPr/>
          <p:nvPr/>
        </p:nvSpPr>
        <p:spPr>
          <a:xfrm>
            <a:off x="3842445" y="1589112"/>
            <a:ext cx="1822698" cy="2277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Manual Posting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2445" y="1905595"/>
            <a:ext cx="2405881" cy="3042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Temporary but reliable—keeps content cadence while tools are fixed.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37027" y="1351880"/>
            <a:ext cx="202853" cy="12672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800" dirty="0">
              <a:solidFill>
                <a:srgbClr val="6E6666"/>
              </a:solidFill>
              <a:latin typeface="Baskervville Light" pitchFamily="34" charset="0"/>
              <a:ea typeface="Baskervville Light" pitchFamily="34" charset="-122"/>
              <a:cs typeface="Baskervville Light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7027" y="1509861"/>
            <a:ext cx="2405955" cy="14288"/>
          </a:xfrm>
          <a:prstGeom prst="rect">
            <a:avLst/>
          </a:prstGeom>
          <a:solidFill>
            <a:srgbClr val="C7A2AC"/>
          </a:solidFill>
        </p:spPr>
      </p:sp>
      <p:sp>
        <p:nvSpPr>
          <p:cNvPr id="13" name="Text 11"/>
          <p:cNvSpPr/>
          <p:nvPr/>
        </p:nvSpPr>
        <p:spPr>
          <a:xfrm>
            <a:off x="6337027" y="1589112"/>
            <a:ext cx="1822698" cy="2277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Qualitative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7027" y="1905595"/>
            <a:ext cx="2405955" cy="3042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Combine open/click data with customer messages to surface what resonates.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2445" y="2374553"/>
            <a:ext cx="202853" cy="12672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2445" y="2532534"/>
            <a:ext cx="4900538" cy="14288"/>
          </a:xfrm>
          <a:prstGeom prst="rect">
            <a:avLst/>
          </a:prstGeom>
          <a:solidFill>
            <a:srgbClr val="C7A2AC"/>
          </a:solidFill>
        </p:spPr>
      </p:sp>
      <p:sp>
        <p:nvSpPr>
          <p:cNvPr id="17" name="Text 15"/>
          <p:cNvSpPr/>
          <p:nvPr/>
        </p:nvSpPr>
        <p:spPr>
          <a:xfrm>
            <a:off x="3842445" y="2611785"/>
            <a:ext cx="1822698" cy="2277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Ad Readiness Plan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2445" y="2928268"/>
            <a:ext cx="4900538" cy="152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Keep mock campaigns polished, set creatives and audiences, and launch when budget permits.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2445" y="3281511"/>
            <a:ext cx="4900538" cy="4763"/>
          </a:xfrm>
          <a:prstGeom prst="roundRect">
            <a:avLst>
              <a:gd name="adj" fmla="val 179981"/>
            </a:avLst>
          </a:prstGeom>
          <a:solidFill>
            <a:srgbClr val="6E6666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2445" y="3411364"/>
            <a:ext cx="4900538" cy="514499"/>
          </a:xfrm>
          <a:prstGeom prst="roundRect">
            <a:avLst>
              <a:gd name="adj" fmla="val 29574"/>
            </a:avLst>
          </a:prstGeom>
          <a:solidFill>
            <a:srgbClr val="ECDFE3"/>
          </a:solidFill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871" y="3558853"/>
            <a:ext cx="126727" cy="10142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172024" y="3516511"/>
            <a:ext cx="4469532" cy="3042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Next Actions: grow list to 100 warm subscribers, A/B subject lines, run a small PKR 1,000 test ad focused on custom orders.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05705" y="4158779"/>
            <a:ext cx="8332589" cy="5466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Closing: Relationship-first marketing works for handmade businesses. Repeat what resonated, scale carefully, and let customer conversations guide product choices.</a:t>
            </a:r>
            <a:endParaRPr lang="en-US" sz="1400" dirty="0">
              <a:solidFill>
                <a:srgbClr val="787878"/>
              </a:solidFill>
              <a:latin typeface="Baskervville" pitchFamily="34" charset="0"/>
              <a:ea typeface="Baskervville" pitchFamily="34" charset="-122"/>
              <a:cs typeface="Baskervville" pitchFamily="34" charset="-12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8603615" y="117475"/>
            <a:ext cx="456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12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1" grpId="0"/>
      <p:bldP spid="11" grpId="1"/>
      <p:bldP spid="15" grpId="0"/>
      <p:bldP spid="15" grpId="1"/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4705" y="726951"/>
            <a:ext cx="3790131" cy="416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Moving Forward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34705" y="1317352"/>
            <a:ext cx="4903589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This internship proved that </a:t>
            </a:r>
            <a:r>
              <a:rPr lang="en-US" sz="900" b="1" dirty="0">
                <a:solidFill>
                  <a:srgbClr val="6E6666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educational content consistently outperforms promotional content</a:t>
            </a:r>
            <a:r>
              <a:rPr lang="en-US" sz="900" dirty="0">
                <a:solidFill>
                  <a:srgbClr val="6E6666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 — and that authentic storytelling drives real business results.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834705" y="1818605"/>
            <a:ext cx="14288" cy="2096616"/>
          </a:xfrm>
          <a:prstGeom prst="roundRect">
            <a:avLst>
              <a:gd name="adj" fmla="val 1217073"/>
            </a:avLst>
          </a:prstGeom>
          <a:solidFill>
            <a:srgbClr val="D2C5C9"/>
          </a:solidFill>
        </p:spPr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3848993" y="1818605"/>
            <a:ext cx="4903589" cy="932408"/>
          </a:xfrm>
          <a:prstGeom prst="rect">
            <a:avLst/>
          </a:prstGeom>
          <a:solidFill>
            <a:srgbClr val="ECDFE3"/>
          </a:solidFill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3964856" y="1934468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Future Plans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3964856" y="2264271"/>
            <a:ext cx="4671864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More educational reels, grow email list, launch paid ad campaigns, collaborate with creators, and continue the 70/20/10 strategy.</a:t>
            </a:r>
            <a:endParaRPr lang="en-US" sz="900" dirty="0"/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3848993" y="2982813"/>
            <a:ext cx="4903589" cy="932408"/>
          </a:xfrm>
          <a:prstGeom prst="rect">
            <a:avLst/>
          </a:prstGeom>
          <a:solidFill>
            <a:srgbClr val="ECDFE3"/>
          </a:solidFill>
        </p:spPr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3964856" y="3098676"/>
            <a:ext cx="2083073" cy="260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Skills Gained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3964856" y="3428479"/>
            <a:ext cx="4671864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Content marketing, social media strategy, email marketing, audience analysis, ad planning, performance reporting, and brand storytelling.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34705" y="4045595"/>
            <a:ext cx="4903589" cy="37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anose="00000500000000000000" pitchFamily="34" charset="0"/>
                <a:ea typeface="Poppins" panose="00000500000000000000" pitchFamily="34" charset="-122"/>
                <a:cs typeface="Poppins" panose="00000500000000000000" pitchFamily="34" charset="-120"/>
              </a:rPr>
              <a:t>🌸</a:t>
            </a:r>
            <a:r>
              <a:rPr lang="en-US" sz="900" b="1" dirty="0">
                <a:solidFill>
                  <a:srgbClr val="6E6666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 Thank you, DevelopersHub Corporation, for this learning opportunity. </a:t>
            </a:r>
            <a:endParaRPr lang="en-US" sz="900" b="1" dirty="0">
              <a:solidFill>
                <a:srgbClr val="6E6666"/>
              </a:solidFill>
              <a:latin typeface="Poppins Bold" panose="00000800000000000000" pitchFamily="34" charset="0"/>
              <a:ea typeface="Poppins Bold" panose="00000800000000000000" pitchFamily="34" charset="-122"/>
              <a:cs typeface="Poppins Bold" panose="00000800000000000000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Questions?</a:t>
            </a:r>
            <a:endParaRPr lang="en-US" sz="900" dirty="0"/>
          </a:p>
        </p:txBody>
      </p:sp>
      <p:sp>
        <p:nvSpPr>
          <p:cNvPr id="23" name="Rounded Rectangle 22"/>
          <p:cNvSpPr/>
          <p:nvPr/>
        </p:nvSpPr>
        <p:spPr>
          <a:xfrm>
            <a:off x="7632700" y="4571365"/>
            <a:ext cx="1511300" cy="5721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8603615" y="117475"/>
            <a:ext cx="456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87878"/>
                </a:solidFill>
                <a:latin typeface="Baskerville Old Face" panose="02020602080505020303" charset="0"/>
                <a:cs typeface="Baskerville Old Face" panose="02020602080505020303" charset="0"/>
              </a:rPr>
              <a:t>13</a:t>
            </a:r>
            <a:endParaRPr lang="en-US" altLang="en-GB">
              <a:solidFill>
                <a:srgbClr val="787878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/>
    </mc:Choice>
    <mc:Fallback>
      <p:transition spd="med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2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3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4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5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6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7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8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9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10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11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12.xml><?xml version="1.0" encoding="utf-8"?>
<p:tagLst xmlns:p="http://schemas.openxmlformats.org/presentationml/2006/main">
  <p:tag name="KSO_WM_DIAGRAM_VIRTUALLY_FRAME" val="{&quot;height&quot;:134.98244094488186,&quot;left&quot;:31.945275590551184,&quot;top&quot;:153.2344094488189,&quot;width&quot;:656.1094488188977}"/>
</p:tagLst>
</file>

<file path=ppt/tags/tag13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14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15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16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17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18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19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0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1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2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3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4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5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6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7.xml><?xml version="1.0" encoding="utf-8"?>
<p:tagLst xmlns:p="http://schemas.openxmlformats.org/presentationml/2006/main">
  <p:tag name="KSO_WM_DIAGRAM_VIRTUALLY_FRAME" val="{&quot;height&quot;:58.81637795275592,&quot;left&quot;:31.945275590551184,&quot;top&quot;:219.1699212598425,&quot;width&quot;:656.1035433070867}"/>
</p:tagLst>
</file>

<file path=ppt/tags/tag28.xml><?xml version="1.0" encoding="utf-8"?>
<p:tagLst xmlns:p="http://schemas.openxmlformats.org/presentationml/2006/main">
  <p:tag name="KSO_WM_DIAGRAM_VIRTUALLY_FRAME" val="{&quot;height&quot;:165.08787401574804,&quot;left&quot;:303.0703149606299,&quot;top&quot;:143.19724409448818,&quot;width&quot;:386.1093700787402}"/>
</p:tagLst>
</file>

<file path=ppt/tags/tag29.xml><?xml version="1.0" encoding="utf-8"?>
<p:tagLst xmlns:p="http://schemas.openxmlformats.org/presentationml/2006/main">
  <p:tag name="KSO_WM_DIAGRAM_VIRTUALLY_FRAME" val="{&quot;height&quot;:165.08787401574804,&quot;left&quot;:303.0703149606299,&quot;top&quot;:143.19724409448818,&quot;width&quot;:386.1093700787402}"/>
</p:tagLst>
</file>

<file path=ppt/tags/tag30.xml><?xml version="1.0" encoding="utf-8"?>
<p:tagLst xmlns:p="http://schemas.openxmlformats.org/presentationml/2006/main">
  <p:tag name="KSO_WM_DIAGRAM_VIRTUALLY_FRAME" val="{&quot;height&quot;:165.08787401574804,&quot;left&quot;:303.0703149606299,&quot;top&quot;:143.19724409448818,&quot;width&quot;:386.1093700787402}"/>
</p:tagLst>
</file>

<file path=ppt/tags/tag31.xml><?xml version="1.0" encoding="utf-8"?>
<p:tagLst xmlns:p="http://schemas.openxmlformats.org/presentationml/2006/main">
  <p:tag name="KSO_WM_DIAGRAM_VIRTUALLY_FRAME" val="{&quot;height&quot;:165.08787401574804,&quot;left&quot;:303.0703149606299,&quot;top&quot;:143.19724409448818,&quot;width&quot;:386.1093700787402}"/>
</p:tagLst>
</file>

<file path=ppt/tags/tag32.xml><?xml version="1.0" encoding="utf-8"?>
<p:tagLst xmlns:p="http://schemas.openxmlformats.org/presentationml/2006/main">
  <p:tag name="KSO_WM_DIAGRAM_VIRTUALLY_FRAME" val="{&quot;height&quot;:165.08787401574804,&quot;left&quot;:303.0703149606299,&quot;top&quot;:143.19724409448818,&quot;width&quot;:386.1093700787402}"/>
</p:tagLst>
</file>

<file path=ppt/tags/tag33.xml><?xml version="1.0" encoding="utf-8"?>
<p:tagLst xmlns:p="http://schemas.openxmlformats.org/presentationml/2006/main">
  <p:tag name="KSO_WM_DIAGRAM_VIRTUALLY_FRAME" val="{&quot;height&quot;:165.08787401574804,&quot;left&quot;:303.0703149606299,&quot;top&quot;:143.19724409448818,&quot;width&quot;:386.109370078740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5727</Words>
  <Application>WPS Presentation</Application>
  <PresentationFormat>On-screen Show (16:9)</PresentationFormat>
  <Paragraphs>294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49" baseType="lpstr">
      <vt:lpstr>Arial</vt:lpstr>
      <vt:lpstr>SimSun</vt:lpstr>
      <vt:lpstr>Wingdings</vt:lpstr>
      <vt:lpstr>Poppins</vt:lpstr>
      <vt:lpstr>Poppins</vt:lpstr>
      <vt:lpstr>Poppins</vt:lpstr>
      <vt:lpstr>Baskervville</vt:lpstr>
      <vt:lpstr>Baskervville</vt:lpstr>
      <vt:lpstr>Baskervville</vt:lpstr>
      <vt:lpstr>Poppins Bold</vt:lpstr>
      <vt:lpstr>Poppins Bold</vt:lpstr>
      <vt:lpstr>Poppins Bold</vt:lpstr>
      <vt:lpstr>Calibri</vt:lpstr>
      <vt:lpstr>Microsoft YaHei</vt:lpstr>
      <vt:lpstr>Arial Unicode MS</vt:lpstr>
      <vt:lpstr>Calibri</vt:lpstr>
      <vt:lpstr>等线</vt:lpstr>
      <vt:lpstr>Bahnschrift</vt:lpstr>
      <vt:lpstr>Bahnschrift SemiBold</vt:lpstr>
      <vt:lpstr>Baskerville Old Face</vt:lpstr>
      <vt:lpstr>Britannic Bold</vt:lpstr>
      <vt:lpstr>Times New Roman</vt:lpstr>
      <vt:lpstr>Calibri Light</vt:lpstr>
      <vt:lpstr>Cambria</vt:lpstr>
      <vt:lpstr>Poor Richard</vt:lpstr>
      <vt:lpstr>Playbill</vt:lpstr>
      <vt:lpstr>PT Bold Dusky</vt:lpstr>
      <vt:lpstr>PT Separated Baloon</vt:lpstr>
      <vt:lpstr>Baskervville Light</vt:lpstr>
      <vt:lpstr>Segoe Print</vt:lpstr>
      <vt:lpstr>Baskervville Light</vt:lpstr>
      <vt:lpstr>Baskervville Light</vt:lpstr>
      <vt:lpstr>MingLiU-ExtB</vt:lpstr>
      <vt:lpstr>Brush Script MT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Hafsa Sheraz</cp:lastModifiedBy>
  <cp:revision>5</cp:revision>
  <dcterms:created xsi:type="dcterms:W3CDTF">2026-06-23T17:00:00Z</dcterms:created>
  <dcterms:modified xsi:type="dcterms:W3CDTF">2026-06-23T21:27:40Z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83B96BCF268E404DA0725961295FAD3F_13</vt:lpwstr>
  </property>
  <property fmtid="{D5CDD505-2E9C-101B-9397-08002B2CF9AE}" pid="3" name="KSOProductBuildVer">
    <vt:lpwstr>2057-12.2.0.23202</vt:lpwstr>
  </property>
</Properties>
</file>